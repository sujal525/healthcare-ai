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5097" autoAdjust="0"/>
  </p:normalViewPr>
  <p:slideViewPr>
    <p:cSldViewPr snapToGrid="0">
      <p:cViewPr varScale="1">
        <p:scale>
          <a:sx n="82" d="100"/>
          <a:sy n="82" d="100"/>
        </p:scale>
        <p:origin x="9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571A-F813-4214-84A2-D413810E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2D60A-3DD9-4866-BA7B-34E852D0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8802" y="6356350"/>
            <a:ext cx="502920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4712D-A072-44DA-B26B-A1BC1ED4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56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E9D7-0090-46D4-A48B-9D26EBCC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A5DDC-5EE7-4691-96B2-F7A25A3B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F9D9F-2C17-4515-8A91-EF6050F3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97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0CE8-5E49-4336-BB31-974F0D6E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1D1AF-DB46-4EF6-93AD-E8CD740A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FBCEF-E902-4ECE-B0DB-142617E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3852A-0F7C-4F18-A663-165414BA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E8B5-A392-435C-89FE-849D9B0A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7AA31-DB02-4BFC-8238-507F5E8B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54DBB-2048-445B-8127-6D2DB22D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454E7-E598-4FCD-834F-13291B95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77B82-4082-402D-889D-8081104D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5258E1-694B-4BB9-A41B-BB742555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2B65B-60BA-40E5-8A5A-5A79D315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72797-16BC-4A2F-8A6F-62F61512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20479-140A-466F-B2F2-AFE27D47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6B342-BDCE-45E8-BDA2-B041981D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3F3AE-E094-4EA8-9900-F77CD687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22704-F91B-471A-988B-9023E120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28E75-DDDE-4BD4-B495-47F44DB3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B0594-D6B3-41C6-BBEF-A060A2EB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E275-5B81-47C9-BA2D-6F6DC43B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EC664-0822-4BE8-9C5D-BB5805261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45D89-6EB8-468C-8726-948695387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69EF1-4362-48D5-892A-20C08FC7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F72AA-57F8-40CE-BBD9-A77F8DE7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4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69046-DB9C-45F8-A281-16510D1FB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31547" y="647699"/>
            <a:ext cx="2112753" cy="55292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06B10-FAAE-4C3A-BC82-8EDC5C124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48287" y="647699"/>
            <a:ext cx="7683260" cy="55292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89FDE-8D09-475F-9B89-BE5AE71A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5E8B7-F220-42D2-BB61-4E5E24A05506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6F80-C5CB-44A2-AB1B-43EB0137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3D7AC-8D81-4526-B969-505D0CE1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6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67A5E8B7-F220-42D2-BB61-4E5E24A05506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B19C-9560-C606-8C5B-847ECA6919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0B6AE-5F6D-3452-289E-C4C38725F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53847-D778-FCE1-7558-CC89EB0AF8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9269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8F20B-E6AD-38FA-033F-F826031F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319" cy="943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CFFBEA-457F-E344-98F2-F3AEFC2649AD}"/>
              </a:ext>
            </a:extLst>
          </p:cNvPr>
          <p:cNvSpPr txBox="1"/>
          <p:nvPr/>
        </p:nvSpPr>
        <p:spPr>
          <a:xfrm>
            <a:off x="2997303" y="471553"/>
            <a:ext cx="6172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WELCOME</a:t>
            </a:r>
            <a:endParaRPr lang="en-IN" sz="44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1191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B19C-9560-C606-8C5B-847ECA691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607" y="4296851"/>
            <a:ext cx="5570393" cy="95148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Colonna MT" panose="04020805060202030203" pitchFamily="82" charset="0"/>
              </a:rPr>
              <a:t>Domain</a:t>
            </a:r>
            <a:endParaRPr lang="en-IN" sz="5400" dirty="0">
              <a:latin typeface="Colonna MT" panose="04020805060202030203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53847-D778-FCE1-7558-CC89EB0AF8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131348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8F20B-E6AD-38FA-033F-F826031F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319" cy="943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7D1C9-C8BA-0D9F-15E7-1ECC0DED5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7106" y="2933918"/>
            <a:ext cx="3205898" cy="36773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432721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B19C-9560-C606-8C5B-847ECA691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277" y="4131350"/>
            <a:ext cx="5791217" cy="1301516"/>
          </a:xfrm>
        </p:spPr>
        <p:txBody>
          <a:bodyPr>
            <a:normAutofit/>
          </a:bodyPr>
          <a:lstStyle/>
          <a:p>
            <a:r>
              <a:rPr lang="en-US" sz="7300" dirty="0">
                <a:latin typeface="Colonna MT" panose="04020805060202030203" pitchFamily="82" charset="0"/>
              </a:rPr>
              <a:t>Presented</a:t>
            </a:r>
            <a:r>
              <a:rPr lang="en-US" sz="5400" dirty="0">
                <a:latin typeface="Colonna MT" panose="04020805060202030203" pitchFamily="82" charset="0"/>
              </a:rPr>
              <a:t> </a:t>
            </a:r>
            <a:r>
              <a:rPr lang="en-US" sz="4800" dirty="0">
                <a:latin typeface="Colonna MT" panose="04020805060202030203" pitchFamily="82" charset="0"/>
              </a:rPr>
              <a:t>by</a:t>
            </a:r>
            <a:r>
              <a:rPr lang="en-US" sz="5400" dirty="0">
                <a:latin typeface="Colonna MT" panose="04020805060202030203" pitchFamily="82" charset="0"/>
              </a:rPr>
              <a:t> </a:t>
            </a:r>
            <a:endParaRPr lang="en-IN" sz="5400" dirty="0">
              <a:latin typeface="Colonna MT" panose="04020805060202030203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53847-D778-FCE1-7558-CC89EB0AF8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131348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48F20B-E6AD-38FA-033F-F826031F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319" cy="9431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6117A-C1A1-86FF-A462-C39CB79D5103}"/>
              </a:ext>
            </a:extLst>
          </p:cNvPr>
          <p:cNvSpPr txBox="1"/>
          <p:nvPr/>
        </p:nvSpPr>
        <p:spPr>
          <a:xfrm>
            <a:off x="7175240" y="3727684"/>
            <a:ext cx="459066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Monik Dudhat</a:t>
            </a:r>
          </a:p>
          <a:p>
            <a:endParaRPr lang="en-IN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3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Arial Rounded MT Bold" panose="020F0704030504030204" pitchFamily="34" charset="0"/>
            </a:endParaRPr>
          </a:p>
          <a:p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Devang Chudasama</a:t>
            </a:r>
          </a:p>
          <a:p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 </a:t>
            </a:r>
          </a:p>
          <a:p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Sujal Dhruve</a:t>
            </a:r>
          </a:p>
          <a:p>
            <a:endParaRPr lang="en-IN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glow rad="139700">
                  <a:schemeClr val="accent3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Arial Rounded MT Bold" panose="020F0704030504030204" pitchFamily="34" charset="0"/>
            </a:endParaRPr>
          </a:p>
          <a:p>
            <a:r>
              <a:rPr lang="en-IN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Prince Khunt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367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bot head with wires">
            <a:extLst>
              <a:ext uri="{FF2B5EF4-FFF2-40B4-BE49-F238E27FC236}">
                <a16:creationId xmlns:a16="http://schemas.microsoft.com/office/drawing/2014/main" id="{5984DDC9-C1D2-2A0C-C2F9-4FA4A7506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03649" y="0"/>
            <a:ext cx="12266654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99E4AA8-C066-D929-0E73-3F6E3EA6E29C}"/>
              </a:ext>
            </a:extLst>
          </p:cNvPr>
          <p:cNvSpPr txBox="1">
            <a:spLocks/>
          </p:cNvSpPr>
          <p:nvPr/>
        </p:nvSpPr>
        <p:spPr>
          <a:xfrm>
            <a:off x="193017" y="2041886"/>
            <a:ext cx="4938819" cy="2352832"/>
          </a:xfrm>
          <a:prstGeom prst="rect">
            <a:avLst/>
          </a:prstGeom>
          <a:ln w="9525" cap="flat" cmpd="sng" algn="ctr">
            <a:solidFill>
              <a:schemeClr val="bg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200" dirty="0">
                <a:solidFill>
                  <a:schemeClr val="tx1">
                    <a:lumMod val="85000"/>
                  </a:schemeClr>
                </a:solidFill>
              </a:rPr>
              <a:t>AI </a:t>
            </a:r>
          </a:p>
          <a:p>
            <a:pPr algn="ctr"/>
            <a:r>
              <a:rPr lang="en-US" sz="5400" dirty="0">
                <a:solidFill>
                  <a:schemeClr val="tx1">
                    <a:lumMod val="85000"/>
                  </a:schemeClr>
                </a:solidFill>
              </a:rPr>
              <a:t>Healthcare </a:t>
            </a:r>
          </a:p>
          <a:p>
            <a:pPr algn="ctr"/>
            <a:r>
              <a:rPr lang="en-US" sz="5400" dirty="0">
                <a:solidFill>
                  <a:schemeClr val="tx1">
                    <a:lumMod val="85000"/>
                  </a:schemeClr>
                </a:solidFill>
              </a:rPr>
              <a:t> System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endParaRPr lang="en-IN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755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bot head with wires">
            <a:extLst>
              <a:ext uri="{FF2B5EF4-FFF2-40B4-BE49-F238E27FC236}">
                <a16:creationId xmlns:a16="http://schemas.microsoft.com/office/drawing/2014/main" id="{5984DDC9-C1D2-2A0C-C2F9-4FA4A7506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0"/>
            <a:ext cx="12266654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4" name="Picture 2" descr="5,000+ Free Robot &amp; Artificial Intelligence Images - Pixabay">
            <a:extLst>
              <a:ext uri="{FF2B5EF4-FFF2-40B4-BE49-F238E27FC236}">
                <a16:creationId xmlns:a16="http://schemas.microsoft.com/office/drawing/2014/main" id="{502C0948-1FC5-D9B0-B1FB-74EAA742E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422043" y="146255"/>
            <a:ext cx="6502003" cy="671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99E4AA8-C066-D929-0E73-3F6E3EA6E29C}"/>
              </a:ext>
            </a:extLst>
          </p:cNvPr>
          <p:cNvSpPr txBox="1">
            <a:spLocks/>
          </p:cNvSpPr>
          <p:nvPr/>
        </p:nvSpPr>
        <p:spPr>
          <a:xfrm>
            <a:off x="4631272" y="146254"/>
            <a:ext cx="6136252" cy="867747"/>
          </a:xfrm>
          <a:prstGeom prst="rect">
            <a:avLst/>
          </a:prstGeom>
          <a:ln w="9525" cap="flat" cmpd="sng" algn="ctr">
            <a:solidFill>
              <a:schemeClr val="bg2">
                <a:lumMod val="25000"/>
                <a:lumOff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glow rad="228600">
              <a:schemeClr val="accent6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200" dirty="0">
                <a:solidFill>
                  <a:schemeClr val="tx1">
                    <a:lumMod val="85000"/>
                  </a:schemeClr>
                </a:solidFill>
              </a:rPr>
              <a:t>Provided Features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B4A6E-8382-5374-5AD6-8E8D670E24C2}"/>
              </a:ext>
            </a:extLst>
          </p:cNvPr>
          <p:cNvSpPr txBox="1"/>
          <p:nvPr/>
        </p:nvSpPr>
        <p:spPr>
          <a:xfrm>
            <a:off x="4631273" y="1239484"/>
            <a:ext cx="613625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/>
              <a:t>Smart patient Profiling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/>
              <a:t>Attractive Dashboard</a:t>
            </a:r>
          </a:p>
          <a:p>
            <a:endParaRPr lang="en-US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/>
              <a:t>Convenient Appointment System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/>
              <a:t>Virtual Meeting With Expert Doctors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/>
              <a:t>AI enabled Report Explanation and QA System</a:t>
            </a:r>
          </a:p>
          <a:p>
            <a:endParaRPr lang="en-IN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/>
              <a:t>Smart YouTube Video Recommender </a:t>
            </a:r>
          </a:p>
          <a:p>
            <a:endParaRPr lang="en-US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/>
              <a:t>AI powered Chatbot for Mental &amp; physical Health with Two mode  1.Genrel  2.Ayurveda</a:t>
            </a:r>
            <a:endParaRPr lang="en-IN" sz="22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Track Global Health Insights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87574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597159" y="335901"/>
            <a:ext cx="5850293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1. Smart Profiling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597159" y="1642187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b="1" dirty="0"/>
              <a:t>Records All Necessary Health Related Information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1203649" y="2267339"/>
            <a:ext cx="2223173" cy="4323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Age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DOB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Regular Medicine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Allergies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Height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Weight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BMI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37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597159" y="335901"/>
            <a:ext cx="5850293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2. Attractive Dashboard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597159" y="1642187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1203649" y="2267339"/>
            <a:ext cx="3220946" cy="43235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Health Tips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Upcoming Appointment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Medication Reminder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Health Overview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Personalized Health Insight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Recent Activities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0789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28630"/>
            <a:ext cx="9918441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3. Convenient Appointment System 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597159" y="1215636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256592" y="1727786"/>
            <a:ext cx="6806682" cy="4015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 Recommendation</a:t>
            </a:r>
            <a:r>
              <a:rPr lang="en-US" sz="2000" dirty="0"/>
              <a:t>: Our AI analyzes the symptoms and suggests the most appropriate type of specialized doctor.</a:t>
            </a:r>
          </a:p>
          <a:p>
            <a:endParaRPr lang="en-US" sz="2000" dirty="0"/>
          </a:p>
          <a:p>
            <a:r>
              <a:rPr lang="en-US" sz="2000" b="1" dirty="0"/>
              <a:t>Doctor Selection</a:t>
            </a:r>
            <a:r>
              <a:rPr lang="en-US" sz="2000" dirty="0"/>
              <a:t>: Patients view a map with nearby doctors, filtered by reviews and ratings, to choose the best option for their needs.</a:t>
            </a:r>
          </a:p>
          <a:p>
            <a:endParaRPr lang="en-US" sz="2000" b="1" dirty="0"/>
          </a:p>
          <a:p>
            <a:r>
              <a:rPr lang="en-US" sz="2000" b="1" dirty="0"/>
              <a:t>Appointment Details</a:t>
            </a:r>
            <a:r>
              <a:rPr lang="en-US" sz="2000" dirty="0"/>
              <a:t>: Once selected, the doctor receives all necessary patient details and medical history.</a:t>
            </a:r>
          </a:p>
          <a:p>
            <a:endParaRPr lang="en-US" sz="2000" b="1" dirty="0"/>
          </a:p>
          <a:p>
            <a:r>
              <a:rPr lang="en-US" sz="2000" b="1" dirty="0"/>
              <a:t>Post-Appointment: </a:t>
            </a:r>
            <a:r>
              <a:rPr lang="en-US" sz="2000" dirty="0"/>
              <a:t>Prescriptions and recommendations are displayed on the homepage.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6917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28630"/>
            <a:ext cx="9918441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4.  Virtual Meeting with Experts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597159" y="1215636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256592" y="1914398"/>
            <a:ext cx="68066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Remote Consultations</a:t>
            </a:r>
            <a:r>
              <a:rPr lang="en-US" sz="2000" dirty="0"/>
              <a:t>: Ideal for patients who need advice from doctors who are not locally available.</a:t>
            </a:r>
          </a:p>
          <a:p>
            <a:endParaRPr lang="en-US" sz="2000" dirty="0"/>
          </a:p>
          <a:p>
            <a:r>
              <a:rPr lang="en-US" sz="2000" b="1" dirty="0"/>
              <a:t>Meeting Scheduling</a:t>
            </a:r>
            <a:r>
              <a:rPr lang="en-US" sz="2000" dirty="0"/>
              <a:t>: Patients choose from available time slots, and a unique meeting link is generated upon doctor’s approval.</a:t>
            </a:r>
          </a:p>
          <a:p>
            <a:endParaRPr lang="en-US" sz="2000" dirty="0"/>
          </a:p>
          <a:p>
            <a:r>
              <a:rPr lang="en-US" sz="2000" b="1" dirty="0"/>
              <a:t>Follow-Up</a:t>
            </a:r>
            <a:r>
              <a:rPr lang="en-US" sz="2000" dirty="0"/>
              <a:t>: After the virtual meeting, patients receive prescribed medications and advice directly on their homepage.</a:t>
            </a:r>
          </a:p>
          <a:p>
            <a:endParaRPr lang="en-US" sz="2000" dirty="0"/>
          </a:p>
          <a:p>
            <a:r>
              <a:rPr lang="en-US" sz="2000" b="1"/>
              <a:t>Post-Appointment: </a:t>
            </a:r>
            <a:r>
              <a:rPr lang="en-US" sz="2000"/>
              <a:t>Prescriptions and recommendations are displayed on the homepage.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1551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28630"/>
            <a:ext cx="9918441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5.  Track Global Insights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597159" y="1215636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256592" y="1914398"/>
            <a:ext cx="68066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Global Insights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Latest Updates</a:t>
            </a:r>
            <a:r>
              <a:rPr lang="en-US" sz="2000" dirty="0"/>
              <a:t>: Users receive up-to-date news and updates on healthcare topics.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Information Hub</a:t>
            </a:r>
            <a:r>
              <a:rPr lang="en-US" sz="2000" dirty="0"/>
              <a:t>: Keeps patients informed about the latest trends and research in the healthcare field.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23699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57205"/>
            <a:ext cx="11678816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6. </a:t>
            </a:r>
            <a:r>
              <a:rPr lang="en-IN" sz="4400" b="1" dirty="0"/>
              <a:t>AI enabled Report Explanation and QA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734786" y="1760905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256592" y="2483565"/>
            <a:ext cx="680668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Report Explanation</a:t>
            </a:r>
            <a:r>
              <a:rPr lang="en-US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Upload &amp; Analyze</a:t>
            </a:r>
            <a:r>
              <a:rPr lang="en-US" sz="2000" dirty="0"/>
              <a:t>: Users can upload their medical reports in PDF format.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Detailed Summary</a:t>
            </a:r>
            <a:r>
              <a:rPr lang="en-US" sz="2000" dirty="0"/>
              <a:t>: The AI provides a comprehensive summary of the report.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Interactive Q&amp;A</a:t>
            </a:r>
            <a:r>
              <a:rPr lang="en-US" sz="2000" dirty="0"/>
              <a:t>: Users can ask specific questions about the report, and the AI will provide contextually relevant answers.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2957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57205"/>
            <a:ext cx="11678816" cy="76944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7. Smart YouTube Video Recommender  </a:t>
            </a:r>
            <a:endParaRPr lang="en-I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734786" y="1760905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70A2-4E7B-954E-644E-A7F3C6D15FB6}"/>
              </a:ext>
            </a:extLst>
          </p:cNvPr>
          <p:cNvSpPr txBox="1"/>
          <p:nvPr/>
        </p:nvSpPr>
        <p:spPr>
          <a:xfrm>
            <a:off x="256592" y="2483565"/>
            <a:ext cx="68066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Video Search: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 search for medical topics to find relevant videos. Content Approval: We ensure the accuracy of video content by approving it, preventing the dissemination of misleading information.</a:t>
            </a:r>
          </a:p>
          <a:p>
            <a:endParaRPr lang="en-US" sz="2000" dirty="0"/>
          </a:p>
          <a:p>
            <a:r>
              <a:rPr lang="en-US" sz="2000" dirty="0"/>
              <a:t>Users receive trustworthy and informative videos based on their search queries.</a:t>
            </a:r>
          </a:p>
        </p:txBody>
      </p:sp>
    </p:spTree>
    <p:extLst>
      <p:ext uri="{BB962C8B-B14F-4D97-AF65-F5344CB8AC3E}">
        <p14:creationId xmlns:p14="http://schemas.microsoft.com/office/powerpoint/2010/main" val="1120398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wnload Medical Technology Concept With Medical Icons On A Dark ...">
            <a:extLst>
              <a:ext uri="{FF2B5EF4-FFF2-40B4-BE49-F238E27FC236}">
                <a16:creationId xmlns:a16="http://schemas.microsoft.com/office/drawing/2014/main" id="{FD499393-585A-D56D-EF24-2DC2FEAE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5DD20-CA28-9E36-034C-619F2CA88354}"/>
              </a:ext>
            </a:extLst>
          </p:cNvPr>
          <p:cNvSpPr txBox="1"/>
          <p:nvPr/>
        </p:nvSpPr>
        <p:spPr>
          <a:xfrm>
            <a:off x="256592" y="257205"/>
            <a:ext cx="11678816" cy="14465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8. </a:t>
            </a:r>
            <a:r>
              <a:rPr lang="en-US" sz="4400" b="1" dirty="0"/>
              <a:t>AI powered Chatbot for  Health with Two mode  1.Genrel  2.Ayurveda</a:t>
            </a:r>
            <a:endParaRPr lang="en-I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0F8BD-A227-1706-70A7-B4E2C5A027E0}"/>
              </a:ext>
            </a:extLst>
          </p:cNvPr>
          <p:cNvSpPr txBox="1"/>
          <p:nvPr/>
        </p:nvSpPr>
        <p:spPr>
          <a:xfrm>
            <a:off x="869683" y="1943830"/>
            <a:ext cx="5850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</a:t>
            </a:r>
            <a:r>
              <a:rPr lang="en-US" sz="2000" b="1" dirty="0"/>
              <a:t>Contains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61B34-DD8A-798E-301D-81F970448DA2}"/>
              </a:ext>
            </a:extLst>
          </p:cNvPr>
          <p:cNvSpPr txBox="1"/>
          <p:nvPr/>
        </p:nvSpPr>
        <p:spPr>
          <a:xfrm>
            <a:off x="345232" y="2901820"/>
            <a:ext cx="689919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Chat-Bot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24/7 Assistance</a:t>
            </a:r>
            <a:r>
              <a:rPr lang="en-US" dirty="0"/>
              <a:t>: Patients can ask medical-related questions at any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 Responses</a:t>
            </a:r>
            <a:r>
              <a:rPr lang="en-US" dirty="0"/>
              <a:t>: The chatbot provides accurate and timely responses based </a:t>
            </a:r>
          </a:p>
          <a:p>
            <a:r>
              <a:rPr lang="en-US" dirty="0"/>
              <a:t>on AI-driven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195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D9694F-190D-A0B5-1423-9187F8E3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37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VTI" id="{14D52F43-08F7-4BCB-8A4A-FBED84E2C440}" vid="{D076F849-C9D7-4142-B46C-46BAC587EA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Pine</Template>
  <TotalTime>1630</TotalTime>
  <Words>463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Rounded MT Bold</vt:lpstr>
      <vt:lpstr>Colonna MT</vt:lpstr>
      <vt:lpstr>Dante</vt:lpstr>
      <vt:lpstr>Wingdings</vt:lpstr>
      <vt:lpstr>PineVTI</vt:lpstr>
      <vt:lpstr>PowerPoint Presentation</vt:lpstr>
      <vt:lpstr>Domain</vt:lpstr>
      <vt:lpstr>Presented by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INTEGRATED MSC DS</dc:creator>
  <cp:lastModifiedBy>monik dudhat</cp:lastModifiedBy>
  <cp:revision>49</cp:revision>
  <dcterms:created xsi:type="dcterms:W3CDTF">2023-12-24T03:48:36Z</dcterms:created>
  <dcterms:modified xsi:type="dcterms:W3CDTF">2024-09-15T06:38:46Z</dcterms:modified>
</cp:coreProperties>
</file>